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1-1.png"/><Relationship Id="rId5" Type="http://schemas.openxmlformats.org/officeDocument/2006/relationships/image" Target="../media/image-12-1.png"/><Relationship Id="rId6" Type="http://schemas.openxmlformats.org/officeDocument/2006/relationships/image" Target="../media/image-13-1.png"/><Relationship Id="rId7" Type="http://schemas.openxmlformats.org/officeDocument/2006/relationships/image" Target="../media/image-14-1.png"/><Relationship Id="rId8" Type="http://schemas.openxmlformats.org/officeDocument/2006/relationships/image" Target="../media/image-15-1.png"/><Relationship Id="rId9" Type="http://schemas.openxmlformats.org/officeDocument/2006/relationships/image" Target="../media/image-1-2.png"/><Relationship Id="rId10" Type="http://schemas.openxmlformats.org/officeDocument/2006/relationships/image" Target="../media/image-18-1.png"/><Relationship Id="rId11" Type="http://schemas.openxmlformats.org/officeDocument/2006/relationships/image" Target="../media/image-19-1.png"/><Relationship Id="rId12" Type="http://schemas.openxmlformats.org/officeDocument/2006/relationships/image" Target="../media/image-1-3.png"/><Relationship Id="rId13" Type="http://schemas.openxmlformats.org/officeDocument/2006/relationships/image" Target="../media/image-21-1.png"/><Relationship Id="rId14" Type="http://schemas.openxmlformats.org/officeDocument/2006/relationships/image" Target="../media/image-22-1.png"/><Relationship Id="rId15" Type="http://schemas.openxmlformats.org/officeDocument/2006/relationships/image" Target="../media/image-23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6F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CSE-410  ·  PROJECT DOCUMENTATION  ·  DOCUMENT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HabitFlow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6E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Details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9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screens specified to Jetpack Compose level — every element numbered, measured in dp and sp, named against a design token, and paired with the behaviour it triggers.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E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43708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Shimul Baidya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47088" y="416052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E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ROLL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47088" y="43708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220419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45536" y="416052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E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45536" y="43708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43984" y="416052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E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43984" y="43708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Kotlin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42432" y="416052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5E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42432" y="437083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(Habits)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stay on the device.  The Coach is the one online call.</a:t>
            </a:r>
            <a:endParaRPr lang="en-US" sz="1100" dirty="0"/>
          </a:p>
        </p:txBody>
      </p:sp>
      <p:pic>
        <p:nvPicPr>
          <p:cNvPr id="17" name="Image 0" descr="mock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960120"/>
            <a:ext cx="2375342" cy="5029200"/>
          </a:xfrm>
          <a:prstGeom prst="rect">
            <a:avLst/>
          </a:prstGeom>
        </p:spPr>
      </p:pic>
      <p:pic>
        <p:nvPicPr>
          <p:cNvPr id="18" name="Image 1" descr="mock/coach_sugg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568" y="1161288"/>
            <a:ext cx="2224184" cy="4709160"/>
          </a:xfrm>
          <a:prstGeom prst="rect">
            <a:avLst/>
          </a:prstGeom>
        </p:spPr>
      </p:pic>
      <p:pic>
        <p:nvPicPr>
          <p:cNvPr id="19" name="Image 2" descr="mock/progr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7896" y="1362456"/>
            <a:ext cx="2073026" cy="43891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document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conventions hold across all fifteen screen slides.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7FAF9"/>
          </a:solidFill>
          <a:ln w="9525">
            <a:solidFill>
              <a:srgbClr val="E1E9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43560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88136" y="1389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badges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88136" y="166420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callout on a mockup carries a number. The row with the same number in the table beside it is that element's full specification.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234440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7FAF9"/>
          </a:solidFill>
          <a:ln w="9525">
            <a:solidFill>
              <a:srgbClr val="E1E9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73368" y="143560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57416" y="1389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are named, not hard-coded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57416" y="166420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reference tokens such as primary or on.surface. HabitFlow ships light and dark, so slide 3 is the only place a hex value appears — resolve every token there and nowhere else.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404872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7FAF9"/>
          </a:solidFill>
          <a:ln w="9525">
            <a:solidFill>
              <a:srgbClr val="E1E9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" y="260604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88136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88136" y="283464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for anything measured, sp for anything typed, ms for motion. No pixel values appear in this document.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2404872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7FAF9"/>
          </a:solidFill>
          <a:ln w="9525">
            <a:solidFill>
              <a:srgbClr val="E1E9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3368" y="260604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57416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specified once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57416" y="283464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defines twelve reusable components. A row that reads C-01 inherits that entire specification; only the differences are restated.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575304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7FAF9"/>
          </a:solidFill>
          <a:ln w="9525">
            <a:solidFill>
              <a:srgbClr val="E1E9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" y="3776472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88136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IDs are permanent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88136" y="400507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SCR-01 to SCR-15 are used again in the UI Flow document, so a node there points at exactly one slide here.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3575304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7FAF9"/>
          </a:solidFill>
          <a:ln w="9525">
            <a:solidFill>
              <a:srgbClr val="E1E9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73368" y="3776472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3368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57416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strip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757416" y="400507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where the screen is entered from, where it exits to, which Room entities feed it, and every state it must handle.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4892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with no badge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" y="516636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past the last badge describe behaviour with no single visual anchor — navigation rules, request scope, persistence. Those numbers appear in grey in the table and nowhere on the mockup.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4892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document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172200" y="516636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screens across five sections: Entry, Daily use, Habit management, AI Coach and Insight/Account. Screen-to-screen navigation is specified in Document 2, the UI Flow.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— colour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slide in this document that contains a hex value. Every screen specification names a token and resolves it here.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8311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6153912"/>
              </a:tblGrid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#F3F7F5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#0F1A1C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background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surface.card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#FFFFFF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#162427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rows, stat cards, sheets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surface.sunken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#E7EEEB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#0A1416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tracks, progress rails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on.surface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#0D1B1E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#ECF3F1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names, headings,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on.surface.muted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#5C7075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0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#9DB0B3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B0B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Sub-labels, units, helper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on.surface.faint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#8A9B9E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9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#6E8285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8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Placeholders, inactive nav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#0F766E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#2DD4BF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buttons, done rings, active nav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on.primary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#FFFFFF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#04201E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and icons on primary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primary.container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#D7EBE5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#123A38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pills, coach callouts, chips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on.primary.container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#0B5A54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#A7E8DF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on primary.container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#C2410C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#F87171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streak, destructive actions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danger.container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#FBEBE8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#33201E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Needs-attention banner background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#E5ECE9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#24363A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hairlines, dividers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#0D1B1E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#000000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 bottom sheets, 55% alpha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587044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values are tuned for contrast, not inverted. primary lifts to 2DD4BF so a completion ring stays legible on a dark surface; danger lifts for the same reason.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— type, spacing and metrics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type roles and nine layout rules. No value outside these appears on any screen slide.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23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63093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777240"/>
                <a:gridCol w="960120"/>
                <a:gridCol w="685800"/>
                <a:gridCol w="2743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Greeting name, splash wordmark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bar titles, screen titles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title.lg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headings, empty-state titles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names, card titles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 and percentage figures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prose, descriptions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Sub-labels, goal text, units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ALL-CAPS section labels, +1.5sp tracking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tags, nav labels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132320" y="1207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rules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15727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viewport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759952" y="157276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 x 832 dp  (Pixel-class); all values scale from this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32320" y="20574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gutter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759952" y="20574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20dp left and right on every screen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132320" y="25420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scale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759952" y="254203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 / 12 / 16 / 20 / 24 / 32 dp — no other values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0" y="30266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radius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759952" y="302666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8dp · md 12dp · card 16dp · sheet 24dp · pill 50%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132320" y="35112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759952" y="351129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0dp + 1dp outline · bottom sheet 8dp · dialog 12dp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132320" y="39959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target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759952" y="39959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x 48dp minimum on every tappable element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132320" y="44805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sizes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759952" y="44805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20dp inline · 24dp nav and app bar · 44dp empty-state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32320" y="4965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759952" y="49651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fill 300ms · sheet 250ms · nav fade 150ms, all standard easing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132320" y="544982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face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759952" y="544982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Roboto — the Compose default; no font is bundled with the APK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— component library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reusable components. A screen row that reads C-01 inherits this entire specification; only differences are restated.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23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11183112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1554480"/>
                <a:gridCol w="1874520"/>
                <a:gridCol w="5175504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Appears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row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Row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72dp tall, 16dp radius, surface.card, 1dp outline, 16dp inner padding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SCR-04, SCR-03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Canvas + IconButton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40dp outer, 4dp stroke, primary sweep on surface.sunken track, 300ms fill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SCR-04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 chip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+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Flame icon 16dp + count in title/20sp primary; danger when streak is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SCR-04, SCR-07, SCR-08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 trio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of 3 Column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weight, stat/32sp value + label/12sp caps, 24dp above and below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SCR-07, SCR-08, SCR-12, SCR-13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grid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LazyVerticalGrid(7)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28dp dot, 8dp gap; filled = done, sunken = missed, 2dp primary outline = today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SCR-07, SCR-08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 card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Column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16dp radius, title/20sp, caption body, Apply pill right, micro tag beneath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SCR-06, SCR-09, SCR-10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pill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Button(shape = pill)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x 32dp, primary.container fill, on.primary.container label at micro/11sp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SCR-06, SCR-09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button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 tall, full width minus gutters, pill shape, primary fill, title/20sp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SCR-02, SCR-03, SCR-05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nav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NavigationBar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72dp tall, 4 items, primary when selected, on.surface.faint when not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SCR-03, SCR-04, SCR-12, SCR-13, SCR-15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label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label/12sp caps, +1.5sp tracking, on.surface.muted, 12dp below the block above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screens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input bar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OutlinedTextField + FAB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44dp field, pill shape, 44dp send button; docked, keyboard-aware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SCR-06, SCR-09, SCR-10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sheet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ModalBottomSheet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24dp top radius, 8dp elevation, 32dp drag handle, 55% scrim behind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SCR-14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map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screens. These IDs are reused unchanged in Document 2, the UI Flow.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23</a:t>
            </a:r>
            <a:endParaRPr lang="en-US" sz="900" dirty="0"/>
          </a:p>
        </p:txBody>
      </p:sp>
      <p:pic>
        <p:nvPicPr>
          <p:cNvPr id="7" name="Image 0" descr="mock/sp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07008"/>
            <a:ext cx="647821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4477" y="13167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324477" y="15361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24477" y="21396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800" dirty="0"/>
          </a:p>
        </p:txBody>
      </p:sp>
      <p:pic>
        <p:nvPicPr>
          <p:cNvPr id="11" name="Image 1" descr="mock/onboar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207008"/>
            <a:ext cx="647821" cy="1371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2189" y="13167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SCR-02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592189" y="15361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592189" y="21396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800" dirty="0"/>
          </a:p>
        </p:txBody>
      </p:sp>
      <p:pic>
        <p:nvPicPr>
          <p:cNvPr id="15" name="Image 2" descr="mock/home_emp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1207008"/>
            <a:ext cx="647821" cy="1371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59901" y="13167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SCR-03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5859901" y="15361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empty state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859901" y="21396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use</a:t>
            </a:r>
            <a:endParaRPr lang="en-US" sz="800" dirty="0"/>
          </a:p>
        </p:txBody>
      </p:sp>
      <p:pic>
        <p:nvPicPr>
          <p:cNvPr id="19" name="Image 3" descr="mock/h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4" y="1207008"/>
            <a:ext cx="647821" cy="1371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27613" y="13167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SCR-04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8127613" y="15361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today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8127613" y="21396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use</a:t>
            </a:r>
            <a:endParaRPr lang="en-US" sz="800" dirty="0"/>
          </a:p>
        </p:txBody>
      </p:sp>
      <p:pic>
        <p:nvPicPr>
          <p:cNvPr id="23" name="Image 4" descr="mock/newhab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76" y="1207008"/>
            <a:ext cx="647821" cy="1371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395325" y="13167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SCR-05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10395325" y="15361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habit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0395325" y="21396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management</a:t>
            </a:r>
            <a:endParaRPr lang="en-US" sz="800" dirty="0"/>
          </a:p>
        </p:txBody>
      </p:sp>
      <p:pic>
        <p:nvPicPr>
          <p:cNvPr id="27" name="Image 5" descr="mock/coach_pl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017520"/>
            <a:ext cx="647821" cy="1371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24477" y="31272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SCR-06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1324477" y="334670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— plan a new habit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324477" y="3950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800" dirty="0"/>
          </a:p>
        </p:txBody>
      </p:sp>
      <p:pic>
        <p:nvPicPr>
          <p:cNvPr id="31" name="Image 6" descr="mock/detail_health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640" y="3017520"/>
            <a:ext cx="647821" cy="1371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592189" y="31272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SCR-07</a:t>
            </a:r>
            <a:endParaRPr lang="en-US" sz="950" dirty="0"/>
          </a:p>
        </p:txBody>
      </p:sp>
      <p:sp>
        <p:nvSpPr>
          <p:cNvPr id="33" name="Text 24"/>
          <p:cNvSpPr/>
          <p:nvPr/>
        </p:nvSpPr>
        <p:spPr>
          <a:xfrm>
            <a:off x="3592189" y="334670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detail — healthy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3592189" y="3950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management</a:t>
            </a:r>
            <a:endParaRPr lang="en-US" sz="800" dirty="0"/>
          </a:p>
        </p:txBody>
      </p:sp>
      <p:pic>
        <p:nvPicPr>
          <p:cNvPr id="35" name="Image 7" descr="mock/detail_brok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2352" y="3017520"/>
            <a:ext cx="647821" cy="13716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859901" y="31272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SCR-08</a:t>
            </a:r>
            <a:endParaRPr lang="en-US" sz="950" dirty="0"/>
          </a:p>
        </p:txBody>
      </p:sp>
      <p:sp>
        <p:nvSpPr>
          <p:cNvPr id="37" name="Text 27"/>
          <p:cNvSpPr/>
          <p:nvPr/>
        </p:nvSpPr>
        <p:spPr>
          <a:xfrm>
            <a:off x="5859901" y="334670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detail — streak broken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5859901" y="3950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management</a:t>
            </a:r>
            <a:endParaRPr lang="en-US" sz="800" dirty="0"/>
          </a:p>
        </p:txBody>
      </p:sp>
      <p:pic>
        <p:nvPicPr>
          <p:cNvPr id="39" name="Image 8" descr="mock/coach_sugge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0064" y="3017520"/>
            <a:ext cx="647821" cy="137160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127613" y="31272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SCR-09</a:t>
            </a:r>
            <a:endParaRPr lang="en-US" sz="950" dirty="0"/>
          </a:p>
        </p:txBody>
      </p:sp>
      <p:sp>
        <p:nvSpPr>
          <p:cNvPr id="41" name="Text 30"/>
          <p:cNvSpPr/>
          <p:nvPr/>
        </p:nvSpPr>
        <p:spPr>
          <a:xfrm>
            <a:off x="8127613" y="334670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— suggestions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8127613" y="3950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800" dirty="0"/>
          </a:p>
        </p:txBody>
      </p:sp>
      <p:pic>
        <p:nvPicPr>
          <p:cNvPr id="43" name="Image 9" descr="mock/coach_appli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7776" y="3017520"/>
            <a:ext cx="647821" cy="137160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10395325" y="31272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SCR-10</a:t>
            </a:r>
            <a:endParaRPr lang="en-US" sz="950" dirty="0"/>
          </a:p>
        </p:txBody>
      </p:sp>
      <p:sp>
        <p:nvSpPr>
          <p:cNvPr id="45" name="Text 33"/>
          <p:cNvSpPr/>
          <p:nvPr/>
        </p:nvSpPr>
        <p:spPr>
          <a:xfrm>
            <a:off x="10395325" y="334670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— applied</a:t>
            </a:r>
            <a:endParaRPr lang="en-US" sz="1000" dirty="0"/>
          </a:p>
        </p:txBody>
      </p:sp>
      <p:sp>
        <p:nvSpPr>
          <p:cNvPr id="46" name="Text 34"/>
          <p:cNvSpPr/>
          <p:nvPr/>
        </p:nvSpPr>
        <p:spPr>
          <a:xfrm>
            <a:off x="10395325" y="3950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800" dirty="0"/>
          </a:p>
        </p:txBody>
      </p:sp>
      <p:pic>
        <p:nvPicPr>
          <p:cNvPr id="47" name="Image 10" descr="mock/coach_offlin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928" y="4828032"/>
            <a:ext cx="647821" cy="137160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1324477" y="49377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SCR-11</a:t>
            </a:r>
            <a:endParaRPr lang="en-US" sz="950" dirty="0"/>
          </a:p>
        </p:txBody>
      </p:sp>
      <p:sp>
        <p:nvSpPr>
          <p:cNvPr id="49" name="Text 36"/>
          <p:cNvSpPr/>
          <p:nvPr/>
        </p:nvSpPr>
        <p:spPr>
          <a:xfrm>
            <a:off x="1324477" y="51572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— offline</a:t>
            </a:r>
            <a:endParaRPr lang="en-US" sz="1000" dirty="0"/>
          </a:p>
        </p:txBody>
      </p:sp>
      <p:sp>
        <p:nvSpPr>
          <p:cNvPr id="50" name="Text 37"/>
          <p:cNvSpPr/>
          <p:nvPr/>
        </p:nvSpPr>
        <p:spPr>
          <a:xfrm>
            <a:off x="1324477" y="5760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800" dirty="0"/>
          </a:p>
        </p:txBody>
      </p:sp>
      <p:pic>
        <p:nvPicPr>
          <p:cNvPr id="51" name="Image 11" descr="mock/progres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34640" y="4828032"/>
            <a:ext cx="647821" cy="137160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3592189" y="49377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SCR-12</a:t>
            </a:r>
            <a:endParaRPr lang="en-US" sz="950" dirty="0"/>
          </a:p>
        </p:txBody>
      </p:sp>
      <p:sp>
        <p:nvSpPr>
          <p:cNvPr id="53" name="Text 39"/>
          <p:cNvSpPr/>
          <p:nvPr/>
        </p:nvSpPr>
        <p:spPr>
          <a:xfrm>
            <a:off x="3592189" y="51572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— week</a:t>
            </a:r>
            <a:endParaRPr lang="en-US" sz="1000" dirty="0"/>
          </a:p>
        </p:txBody>
      </p:sp>
      <p:sp>
        <p:nvSpPr>
          <p:cNvPr id="54" name="Text 40"/>
          <p:cNvSpPr/>
          <p:nvPr/>
        </p:nvSpPr>
        <p:spPr>
          <a:xfrm>
            <a:off x="3592189" y="5760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pic>
        <p:nvPicPr>
          <p:cNvPr id="55" name="Image 12" descr="mock/progress_month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02352" y="4828032"/>
            <a:ext cx="647821" cy="137160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5859901" y="49377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SCR-13</a:t>
            </a:r>
            <a:endParaRPr lang="en-US" sz="950" dirty="0"/>
          </a:p>
        </p:txBody>
      </p:sp>
      <p:sp>
        <p:nvSpPr>
          <p:cNvPr id="57" name="Text 42"/>
          <p:cNvSpPr/>
          <p:nvPr/>
        </p:nvSpPr>
        <p:spPr>
          <a:xfrm>
            <a:off x="5859901" y="51572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— month</a:t>
            </a:r>
            <a:endParaRPr lang="en-US" sz="1000" dirty="0"/>
          </a:p>
        </p:txBody>
      </p:sp>
      <p:sp>
        <p:nvSpPr>
          <p:cNvPr id="58" name="Text 43"/>
          <p:cNvSpPr/>
          <p:nvPr/>
        </p:nvSpPr>
        <p:spPr>
          <a:xfrm>
            <a:off x="5859901" y="5760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pic>
        <p:nvPicPr>
          <p:cNvPr id="59" name="Image 13" descr="mock/habit_shee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0064" y="4828032"/>
            <a:ext cx="647821" cy="1371600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8127613" y="49377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SCR-14</a:t>
            </a:r>
            <a:endParaRPr lang="en-US" sz="950" dirty="0"/>
          </a:p>
        </p:txBody>
      </p:sp>
      <p:sp>
        <p:nvSpPr>
          <p:cNvPr id="61" name="Text 45"/>
          <p:cNvSpPr/>
          <p:nvPr/>
        </p:nvSpPr>
        <p:spPr>
          <a:xfrm>
            <a:off x="8127613" y="51572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delete sheet</a:t>
            </a:r>
            <a:endParaRPr lang="en-US" sz="1000" dirty="0"/>
          </a:p>
        </p:txBody>
      </p:sp>
      <p:sp>
        <p:nvSpPr>
          <p:cNvPr id="62" name="Text 46"/>
          <p:cNvSpPr/>
          <p:nvPr/>
        </p:nvSpPr>
        <p:spPr>
          <a:xfrm>
            <a:off x="8127613" y="5760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management</a:t>
            </a:r>
            <a:endParaRPr lang="en-US" sz="800" dirty="0"/>
          </a:p>
        </p:txBody>
      </p:sp>
      <p:pic>
        <p:nvPicPr>
          <p:cNvPr id="63" name="Image 14" descr="mock/profil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37776" y="4828032"/>
            <a:ext cx="647821" cy="1371600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10395325" y="49377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SCR-15</a:t>
            </a:r>
            <a:endParaRPr lang="en-US" sz="950" dirty="0"/>
          </a:p>
        </p:txBody>
      </p:sp>
      <p:sp>
        <p:nvSpPr>
          <p:cNvPr id="65" name="Text 48"/>
          <p:cNvSpPr/>
          <p:nvPr/>
        </p:nvSpPr>
        <p:spPr>
          <a:xfrm>
            <a:off x="10395325" y="51572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and settings</a:t>
            </a:r>
            <a:endParaRPr lang="en-US" sz="1000" dirty="0"/>
          </a:p>
        </p:txBody>
      </p:sp>
      <p:sp>
        <p:nvSpPr>
          <p:cNvPr id="66" name="Text 49"/>
          <p:cNvSpPr/>
          <p:nvPr/>
        </p:nvSpPr>
        <p:spPr>
          <a:xfrm>
            <a:off x="10395325" y="5760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first frame while Room opens and the habit list is read.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23</a:t>
            </a:r>
            <a:endParaRPr lang="en-US" sz="900" dirty="0"/>
          </a:p>
        </p:txBody>
      </p:sp>
      <p:pic>
        <p:nvPicPr>
          <p:cNvPr id="7" name="Image 0" descr="mock/sp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89766" y="121292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9766" y="121292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197459" y="2702587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97459" y="270258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061384" y="3382962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1384" y="338296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061384" y="3619302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1384" y="361930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218944" y="492275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18944" y="492275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WindowInsets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icons; window background = on.surface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Edge-to-edge, transparent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mark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192dp circle, 5dp primary ring, 24dp check glyph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0.92 to 1.0 over 220ms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Wordmark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display/32sp Bold, on.primary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caption/14sp, primary.container at 70% alpha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LinearProgressIndicator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x 4dp, pill, primary on 20% track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Indeterminate; hidden if ready under 400ms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background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on.surface in both themes — splash is always dark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theme switch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decision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LaunchedEffect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600ms, maximum 3000ms on screen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onboardingComplete, then navigates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path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Snackbar on SCR-04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Room throws, open an empty Home and surface a retry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blocks on the splash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first frame while Room opens and the habit list is read.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launch (launcher icon)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SCR-02 first run · SCR-04 otherwise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SettingsDao.onboardingComplete · HabitDao.count()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· DB migration · corrupt DB fallback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panes that explain the one interaction the app depends on: a daily tap.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23</a:t>
            </a:r>
            <a:endParaRPr lang="en-US" sz="900" dirty="0"/>
          </a:p>
        </p:txBody>
      </p:sp>
      <p:pic>
        <p:nvPicPr>
          <p:cNvPr id="7" name="Image 0" descr="mock/onboar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60991" y="1227249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60991" y="122724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519741" y="209383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19741" y="209383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383667" y="293176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83667" y="293176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813377" y="3261210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13377" y="326121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74911" y="390577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4911" y="390577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519741" y="4321162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19741" y="432116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519741" y="4600474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19741" y="460047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TextButton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caption/14sp Bold, on.surface.muted, 20dp gutter, 48dp 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onboardingComplete, jumps to SCR-03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+ 3 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cards 60dp apart, alpha 0.35 / 0.6 / 1.0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card animates in 400ms on pane change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headline/26sp Bold, on.surface, 20dp gutter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per pane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body/16sp, on.surface.muted, 24sp line height, max 3 lines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per pane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 dots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+ Box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8dp dots, active 28 x 8dp pill primary, 10dp 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Reflects HorizontalPager state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width minus gutters, 56dp, primary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Advances pager; last pane finishes onboarding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TextButton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caption/14sp, on.surface.muted, centred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import sheet — phase 2, disabled at v1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HorizontalPager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pages, swipe enabled both directions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on pane 1 exits the app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handling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BackHandler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 2 and 3 return to the previous pane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returns to SCR-01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panes that explain the one interaction the app depends on: a daily tap.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SCR-01 when onboardingComplete is false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SCR-03 empty Home after the last pane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SettingsEntity.onboardingComplete (write on finish)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 1 of 3 · swipe back · skip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empty state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 Home. The only job of this screen is to get one habit created.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23</a:t>
            </a:r>
            <a:endParaRPr lang="en-US" sz="900" dirty="0"/>
          </a:p>
        </p:txBody>
      </p:sp>
      <p:pic>
        <p:nvPicPr>
          <p:cNvPr id="7" name="Image 0" descr="mock/home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90828" y="1442104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90828" y="144210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992423" y="140629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92423" y="140629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82072" y="2201259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2072" y="22012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519741" y="255935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19741" y="255935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519741" y="349755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19741" y="349755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82072" y="4242382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2072" y="424238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297725" y="492991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97725" y="492991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title.lg/22sp muted over display/32sp Bold on.surface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Time-of-day string; name from settings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chip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x 64dp, 12dp radius, surface.card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Static, no tap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width minus gutters, 20dp radius, 32dp inner padding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shown when habit count is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icon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+ Icon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88dp circle primary.container, 36dp plus in primary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Decorative, not focusable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56dp, primary, label 'Add your first habit'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Navigates to SCR-05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shortcut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88dp tall, 16dp radius, 1dp outline, 44dp leading circle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SCR-06 with no habit pre-selected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nav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selected; Progress and Coach visible but disabled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 tabs show a one-line explanation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scroll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+ verticalScroll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is short — no LazyColumn until a habit exists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Scrolls only on small screens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Crossfade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to populated crossfades over 200ms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Triggered by the first insert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 Home. The only job of this screen is to get one habit created.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SCR-02 · SCR-04 when the last habit is deleted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SCR-05 create · SCR-06 coach · nav tabs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HabitDao.observeAll() returning an empty list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(this screen) · loading skeleton · populated becomes SCR-04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today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hub. Every habit and its streak on the first screen, one tap to log.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  <p:pic>
        <p:nvPicPr>
          <p:cNvPr id="7" name="Image 0" descr="mock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89766" y="121292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9766" y="121292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426638" y="145642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26638" y="145642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992423" y="1420619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92423" y="142061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24778" y="195775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778" y="195775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314705" y="207950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14705" y="207950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634331" y="242327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34331" y="242327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10454" y="263813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0454" y="263813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999584" y="2702587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99584" y="270258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842024" y="3182430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42024" y="318243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10454" y="3490389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0454" y="349038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856348" y="3762539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856348" y="376253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942290" y="4729387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942290" y="472938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297725" y="492991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97725" y="492991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WindowInsets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Edge-to-edge; icons follow the theme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draws under 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title.lg/22sp muted + display/32sp Bold on.surface, 20dp gutter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/ afternoon / evening by clock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chip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x 64dp, 12dp radius, surface.card, weekday over date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 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C-02 (large)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64dp outer, 6dp stroke, primary sweep = done / 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Animates 300ms when a habit is checked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 block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stat/32sp Bold primary + label/12sp caps muted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the longest active streak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header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title/20sp Bold + caption/14sp counter, 24dp above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 is done of 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72dp, 16dp radius, surface.card, 1dp outline, 8dp between rows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opens SCR-07 or SCR-08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40dp, 4dp stroke, 48dp touch 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toggles today; 300ms fill; haptic on complete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35" name="Text 31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hub. Every habit and its streak on the first screen, one tap to log.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SCR-01 · SCR-02 · bottom nav from any tab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SCR-05 add · SCR-07 or SCR-08 detail · SCR-12 · SCR-09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HabitDao.observeAll() + CompletionDao.observeForDate(today)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· empty is SCR-03 · loading skeleton · all-done celebration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today  (continued)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continued — same screen, same numbering.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  <p:pic>
        <p:nvPicPr>
          <p:cNvPr id="7" name="Image 0" descr="mock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 counter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16dp flame + title/20sp primary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Danger token and a broken glyph when the count is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At-risk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C-01 variant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metrics; streak reads 0 in danger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under the Needs attention divider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attention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+ Divider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label/12sp caps in danger, 20dp above and 12dp below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rendered when at least one habit is at 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habit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FloatingActionButton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56dp, primary, 2dp elevation, 16dp from both edges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SCR-05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nav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72dp, Home selected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 switch is a fade, never a slide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hub. Every habit and its streak on the first screen, one tap to log.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SCR-01 · SCR-02 · bottom nav from any tab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SCR-05 add · SCR-07 or SCR-08 detail · SCR-12 · SCR-09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HabitDao.observeAll() + CompletionDao.observeForDate(today)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· empty is SCR-03 · loading skeleton · all-done celebration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habit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habit. Coach entry sits directly above Create, where a plan is most useful.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00" dirty="0"/>
          </a:p>
        </p:txBody>
      </p:sp>
      <p:pic>
        <p:nvPicPr>
          <p:cNvPr id="7" name="Image 0" descr="mock/newha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89766" y="121292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9766" y="121292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21197" y="140629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1197" y="140629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068546" y="171067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8546" y="171067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243087" y="1979242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43087" y="197924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605684" y="230510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05684" y="230510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10720" y="2573674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0720" y="257367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426638" y="288879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26638" y="288879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314705" y="3143040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314705" y="314304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519741" y="366227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19741" y="366227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243087" y="385564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43087" y="385564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996927" y="4689997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96927" y="468999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WindowInsets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Edge-to-edge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draws under 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TopAppBar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56dp, back chevron 24dp, headline/26sp Bold title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discards with a confirm if the form is dirty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label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label/12sp caps, +1.5sp tracking, on.surface.muted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field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OutlinedTextField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60dp, 12dp radius, 2dp primary border when focused, title/20sp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Required; error state after an empty submit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 and colour label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label/12sp caps, 24dp above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 and colour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LazyRow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 swatches, 8dp gap, 2dp primary ring on the selection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select; defaults to the first swatch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label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label/12sp caps, 24dp above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SegmentedButtonRow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52dp tall, pill, 3 options, selected fills surface.card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reveals the day picker below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picker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of 7 ToggleButton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40dp circles, 8dp gap, primary.container when 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enabled for Weekly and Custom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116dp, 16dp radius, primary.container, 48dp leading circle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SCR-06 carrying the draft habit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56dp, primary, 20dp gutters, 24dp above the inset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 until the name is non-blank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+ verticalScroll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stays docked; the form scrolls behind 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 insets applied to the docked area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31" name="Text 27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habit. Coach entry sits directly above Create, where a plan is most useful.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SCR-03 · SCR-04 FAB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SCR-06 coach · returns to SCR-04 on create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HabitDao.insert(HabitEntity) · icon and colour enums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form · name required · duplicate name · custom-days validation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— plan a new habit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a habit before it is created, so the first version is one that survives.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00" dirty="0"/>
          </a:p>
        </p:txBody>
      </p:sp>
      <p:pic>
        <p:nvPicPr>
          <p:cNvPr id="7" name="Image 0" descr="mock/coach_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1197" y="140629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1197" y="140629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243087" y="1656959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43087" y="16569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705949" y="1979242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05949" y="197924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350514" y="223706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50514" y="223706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813377" y="263813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13377" y="263813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10454" y="288163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0454" y="288163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350514" y="2974737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50514" y="297473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598522" y="331134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98522" y="331134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10454" y="374105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0454" y="374105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996927" y="535246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6927" y="535246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TopAppBar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56dp, back chevron, headline/26sp Bold 'Coach'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returns without applying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chip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 4dp primary bar, title/20sp name, caption sub-line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context, not tappable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label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label/12sp caps, on.surface.muted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body/16sp on.surface, 24sp line height, max 4 lines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output; skeleton shimmer while loading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header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title/20sp Bold, 24dp above the first 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is always three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 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16dp radius, 1dp outline, 12dp between cards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card is one tap 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pill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x 32dp, primary.container, micro/11sp Bold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the value into the draft, then returns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tag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micro/11sp Bold caps, +1.5sp tracking, primary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retrieved strategy shown as its source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 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caption/14sp on.surface.muted, max 2 lines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sentence of why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44dp field + 44dp send, docked, 12dp above the inset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Keyboard-aware; send disabled when blank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scope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the draft name, frequency and habit count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completion history exists yet for a draft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5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a habit before it is created, so the first version is one that survives.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SCR-05 coach card · SCR-03 coach shortcut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SCR-05 with the applied values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habit + HabitDao counts; strategy cards; model response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· loaded · applied · offline is SCR-11 · rate limited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detail — healthy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view: an unbroken chain, made visible enough to be worth protecting.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00" dirty="0"/>
          </a:p>
        </p:txBody>
      </p:sp>
      <p:pic>
        <p:nvPicPr>
          <p:cNvPr id="7" name="Image 0" descr="mock/detail_healt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1197" y="140629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1197" y="140629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705949" y="180019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05949" y="180019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10454" y="215828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0454" y="215828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713111" y="215828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13111" y="215828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278896" y="2673940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78896" y="267394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390828" y="3182430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90828" y="318243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414971" y="352619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14971" y="352619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171469" y="470790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71469" y="470790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996927" y="514477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6927" y="514477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TopAppBar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56dp, back chevron, overflow opens SCR-14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fades in on scroll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block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headline/26sp Bold + caption/14sp muted frequency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string built from the schedule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streak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 cell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stat/32sp Bold primary + label/12sp caps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token while the streak is alive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and 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 cells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stat/32sp Bold on.surface, equal thirds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is completions over scheduled days this month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callout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76dp, 16dp radius, primary.container, 36dp check circle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Shown when current equals best and best is 7 or more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header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title/20sp Bold month + caption/14sp muted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Swipe the grid to change month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grid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columns, 28dp dots, 8dp gap, 4 to 6 rows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a past day to correct it; future days disabled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18dp dots + caption/14sp, 20dp apart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entry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OutlinedButton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56dp, pill, 2dp primary border, primary label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SCR-09; label reads 'Ask the Coach' when healthy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LazyColumn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 and callout scroll; app bar collapses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is docked, not in the scroll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view: an unbroken chain, made visible enough to be worth protecting.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SCR-04 habit row · SCR-12 top streaks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SCR-06 or SCR-09 coach · SCR-14 sheet · back to SCR-04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HabitDao.byId + CompletionDao.observeMonth(habitId, month)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(this screen) · at risk is SCR-08 · new habit with no data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detail — streak broken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pair that carries the project. The app names the pattern instead of hiding it.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00" dirty="0"/>
          </a:p>
        </p:txBody>
      </p:sp>
      <p:pic>
        <p:nvPicPr>
          <p:cNvPr id="7" name="Image 0" descr="mock/detail_bro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1197" y="140629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1197" y="140629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723854" y="180735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23854" y="180735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10454" y="215828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0454" y="215828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713111" y="215828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13111" y="215828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278896" y="2648874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78896" y="264887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390828" y="315378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90828" y="315378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414971" y="352619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14971" y="352619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171469" y="468283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71469" y="468283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996927" y="5169840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6927" y="516984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TopAppBar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56dp, back chevron, overflow opens SCR-14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to SCR-07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block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headline/26sp Bold + caption/14sp muted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to SCR-07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streak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 cell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stat/32sp Bold; reads 0d in on.surface, not danger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number is neutral — the callout carries the tone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and 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 cells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stat/32sp Bold on.surface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is preserved through a break, never reset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callout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76dp, 16dp radius, danger.container, body/16sp on.surface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generated by StreakCalculator, not the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header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title/20sp Bold + caption/14sp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SCR-07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grid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days use surface.sunken, not danger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read as absence, not as failure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18dp dots + caption/14sp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a plan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56dp, primary fill — filled here, outlined on SCR-07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SCR-09; the emphasis change is the whole point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rule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when 2 or more misses fall in the last 7 scheduled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which of SCR-07 and SCR-08 renders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pair that carries the project. The app names the pattern instead of hiding it.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SCR-04 at-risk row · SCR-12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SCR-09 coach · SCR-14 sheet · back to SCR-04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SCR-07; StreakCalculator flags the at-risk state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(this screen) · healthy is SCR-07 · recovered after two clean days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— suggestions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no other tracker has. Opens with what it noticed, not a blank chat box.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  <p:pic>
        <p:nvPicPr>
          <p:cNvPr id="7" name="Image 0" descr="mock/coach_sugg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1197" y="140629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1197" y="140629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243087" y="1628312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43087" y="162831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956613" y="1814520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56613" y="181452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705949" y="2122479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05949" y="212247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350514" y="238030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50514" y="238030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813377" y="280285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13377" y="280285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10454" y="2981899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0454" y="298189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350514" y="307500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350514" y="307500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10454" y="3246887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0454" y="324688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598522" y="342593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98522" y="342593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10454" y="409914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0454" y="409914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996927" y="535246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6927" y="535246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2314705" y="506599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314705" y="506599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TopAppBar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56dp, back chevron, headline/26sp Bold 'Coach'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returns to the detail screen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chip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4dp leading primary bar, title/20sp name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context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caption/14sp on.surface.muted, mid-dot separated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 state and completion 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label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label/12sp caps 'WHAT I'M SEEING'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body/16sp on.surface, 24sp line height, max 4 lines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output; 3-line shimmer while loading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header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title/20sp Bold, 24dp above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exactly three suggestions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 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16dp radius, 1dp outline, 12dp 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card is tappable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pill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x 32dp, primary.container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tap writes the change; moves to SCR-10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 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caption/14sp muted, max 2 lines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reason, in one sentence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 31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no other tracker has. Opens with what it noticed, not a blank chat box.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SCR-08 Get a plan · SCR-07 Ask the Coach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SCR-10 after Apply · back to the detail screen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habit's 30-day pattern + strategy knowledge base + model response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· loaded · applied is SCR-10 · offline is SCR-11 · no pattern yet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— suggestions  (continued)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continued — same screen, same numbering.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  <p:pic>
        <p:nvPicPr>
          <p:cNvPr id="7" name="Image 0" descr="mock/coach_sugg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tag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micro/11sp Bold caps primary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the retrieved strategy — the source, shown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 2 and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metrics; list is never longer than three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Scrolls under the docked input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44dp field + 44dp send, docked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Free-form follow-up about this habit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FilledIconButton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44dp circle, primary, 20dp glyph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 while a request is in flight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rule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the question and one habit's 30-day summary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the habit list, the name or any identifier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StrategyRepository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50 local cards; top 3 by pattern match go in the prompt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 device before the single network call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no other tracker has. Opens with what it noticed, not a blank chat box.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SCR-08 Get a plan · SCR-07 Ask the Coach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SCR-10 after Apply · back to the detail screen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habit's 30-day pattern + strategy knowledge base + model response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· loaded · applied is SCR-10 · offline is SCR-11 · no pattern yet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— applied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change, keeps history intact, and leaves the conversation open.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00" dirty="0"/>
          </a:p>
        </p:txBody>
      </p:sp>
      <p:pic>
        <p:nvPicPr>
          <p:cNvPr id="7" name="Image 0" descr="mock/coach_appl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43087" y="1656959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3087" y="16569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82072" y="1979242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2072" y="197924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918147" y="2222744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8147" y="222274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243087" y="255935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43087" y="255935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82072" y="3060679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2072" y="306067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996927" y="535246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6927" y="535246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chip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Sub-line switches to 'Goal changed today'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Reflects the write immediately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104dp, 16dp radius, primary.container, 36dp check circle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Inserted at the top of the thread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TextButton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caption/14sp Bold primary, 48dp 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for 10s, then the row is committed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message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aligned, max 76% width, 16dp radius, primary fill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on.primary text; 12dp between bubbles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reply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aligned, max 76% width, 1dp outline, surface.card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Carries the strategy tag when one applies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Docked, 44dp field + 44dp send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Scrolls the thread to the bottom on send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LazyColumn(reverseLayout)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12dp between items, 20dp gutters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messages append at the bottom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path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HabitManager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is updated; completions and streak rows are untouched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shrunk goal never resets a streak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CoachMessageDao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is stored per habit, capped at 50 messages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Cleared from SCR-15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change, keeps history intact, and leaves the conversation open.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SCR-09 after an Apply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SCR-07 or SCR-08 with the new goal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HabitDao.update(goal) · CoachMessageDao for the thread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· undo window · follow-up in flight · offline is SCR-11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— offline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is the only online piece, so its failure has to be a designed state.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  <p:pic>
        <p:nvPicPr>
          <p:cNvPr id="7" name="Image 0" descr="mock/coach_off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43087" y="1656959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3087" y="16569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519741" y="3024870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19741" y="302487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813377" y="358349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13377" y="358349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74911" y="3884290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4911" y="388429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519741" y="441426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19741" y="441426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82072" y="4836814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2072" y="483681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 chip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 from SCR-09 — context survives the failure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icon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+ Icon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148dp circle surface.sunken, 56dp glyph, danger slash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Decorative, not focusable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title.lg/22sp Bold on.surface, centred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varies by error 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body/16sp on.surface.muted, centred, max 3 lines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what still works — habits are local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OutlinedButton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52dp, pill, 2dp primary border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 backoff; disabled 3s after a tap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Cached note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72dp, 16dp radius, surface, 1dp outline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shown when a stored suggestion exists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ConnectivityManager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before the call; no spinner when already offline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fast rather than timing out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safety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rule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error state states that local data is unaffected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fear the failure implies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is the only online piece, so its failure has to be a designed state.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SCR-06 · SCR-09 · SCR-10 when the request fails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stays here · back to the detail screen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call; cached suggestions from CoachSuggestionDao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 · timeout · rate limited · server error — same layout, different copy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— week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daily check-offs into weekly consistency, so movement survives a bad day.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  <p:pic>
        <p:nvPicPr>
          <p:cNvPr id="7" name="Image 0" descr="mock/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47857" y="144926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47857" y="144926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992423" y="156385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92423" y="156385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115098" y="177871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098" y="177871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849186" y="177871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49186" y="177871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347857" y="204011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47857" y="204011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243087" y="252354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43087" y="252354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278896" y="297115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78896" y="297115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7483" y="326479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483" y="326479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526903" y="3683759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26903" y="36837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10454" y="402036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0454" y="402036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099850" y="402036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099850" y="402036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562712" y="533098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562712" y="533098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title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headline/26sp Bold on.surface, 20dp gutter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back — this is a nav root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toggle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SegmentedButtonRow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 x 36dp, pill, surface.sunken track, selected on surface.card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and Month; switches to SCR-13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 cell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stat/32sp Bold + label/12sp caps, left aligned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days completed this week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and best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 cells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thirds across the content width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streak is all-time, not weekly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 labels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label/12sp caps, wraps to two lines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Wrapping is expected — 12sp holds two lines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header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title/20sp Bold + caption/14sp muted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bars, 24dp wide, 8dp radius, primary on surface.sunken track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Bars animate up over 400ms, staggered 40ms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axis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caption/14sp muted, one letter per bar, today is Bold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starts per the SCR-15 setting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streaks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title/20sp Bold, 24dp above the list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when no habit has a streak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48dp, 12dp radius, 1dp outline, 8dp 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opens that habit's detail screen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title/20sp Bold primary, right aligned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 width is the value over the top streak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nav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selected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Fade between tabs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33" name="Text 29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daily check-offs into weekly consistency, so movement survives a bad day.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 from any tab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SCR-13 month toggle · SCR-07 or SCR-08 from a streak row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StatsAggregator over CompletionDao.observeRange(week)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· fewer than 7 days of data · no habits yet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— month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screen, wider window. Five weekly bars replace seven daily ones.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00" dirty="0"/>
          </a:p>
        </p:txBody>
      </p:sp>
      <p:pic>
        <p:nvPicPr>
          <p:cNvPr id="7" name="Image 0" descr="mock/progress_mon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92423" y="1549532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92423" y="154953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115098" y="209383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098" y="209383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884995" y="209383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84995" y="209383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243087" y="2673940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43087" y="267394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278896" y="3168107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78896" y="316810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519741" y="374105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19741" y="374105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10454" y="4242382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0454" y="424238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099850" y="4242382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99850" y="424238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297725" y="492991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7725" y="492991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toggle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SegmentedButtonRow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selected; identical metrics to SCR-12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Toggling re-queries, it does not navigate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 cell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stat/32sp Bold; value is monthly, not weekly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Recomputed on range change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and best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 cells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reads THIS MO rather than THIS WK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label string differs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header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title/20sp Bold 'Weekly consistency'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bars, 34dp wide, 8dp radius; under 75% uses a lighter primary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400ms stagger as SCR-12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values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micro/11sp muted above each bar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Omitted when a bar is under 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48dp, 12dp radius, 1dp outline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component to SCR-12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Streak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title/20sp Bold primary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to SCR-12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nav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selected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screen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ProgressScreen(range)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SCR-12 and SCR-13 are one composable with a range parameter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once, not twice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screen, wider window. Five weekly bars replace seven daily ones.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SCR-12 range toggle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SCR-12 · SCR-07 or SCR-08 from a streak row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StatsAggregator over CompletionDao.observeRange(month)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· partial month · month with no completions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delete sheet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destructive path on one surface, with delete visually separated from the rest.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00" dirty="0"/>
          </a:p>
        </p:txBody>
      </p:sp>
      <p:pic>
        <p:nvPicPr>
          <p:cNvPr id="7" name="Image 0" descr="mock/habit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2072" y="255935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2072" y="255935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519741" y="3117974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19741" y="311797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82072" y="339728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2072" y="339728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82072" y="385564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2072" y="385564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82072" y="505883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2072" y="505883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519741" y="5302334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19741" y="530233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on.surface at 55% alpha, 250ms fade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outside dismisses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handle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x 4dp, pill, on.surface.faint, 12dp from the 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down dismisses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 header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title/20sp Bold name + caption/14sp muted summary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Divider 1dp outline beneath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72dp, 44dp leading circle primary.container, title/20sp label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Full-width ripple; 48dp minimum 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(danger)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metrics; label and circle use the danger tokens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a confirm dialog naming the streak that is lost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Button(tonal)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52dp, pill, surface, on.surface.muted label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dismissing the sheet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24dp top radius, 8dp elevation, wraps content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full height — the habit stays visible above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HabitManager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archivedAt; the row leaves Home, history is kept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Snackbar with a 5s undo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cascade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onDelete = CASCADE from habit to completions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Irreversible; the dialog says so explicitly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destructive path on one surface, with delete visually separated from the rest.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SCR-07 or SCR-08 overflow · long-press a row on SCR-04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SCR-05 in edit mode · back to the detail screen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HabitDao.update / archive / delete (cascades completions)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delete confirmation dialog · archive undo snackbar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SCR-15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048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and settings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fourth nav tab, the theme switch, and every Coach privacy control.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00055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900" dirty="0"/>
          </a:p>
        </p:txBody>
      </p:sp>
      <p:pic>
        <p:nvPicPr>
          <p:cNvPr id="7" name="Image 0" descr="mock/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2137808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2072" y="1993566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2072" y="199356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884995" y="196491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84995" y="196491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82072" y="2537865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2072" y="253786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82072" y="2910281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2072" y="291028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243087" y="3139459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43087" y="313945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243087" y="3468904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43087" y="346890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82072" y="3884290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2072" y="388429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82072" y="4636283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2072" y="463628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297725" y="4929918"/>
            <a:ext cx="192024" cy="192024"/>
          </a:xfrm>
          <a:prstGeom prst="ellipse">
            <a:avLst/>
          </a:prstGeom>
          <a:solidFill>
            <a:srgbClr val="0F766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7725" y="492991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800" y="111556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417320"/>
                <a:gridCol w="1627632"/>
                <a:gridCol w="3703320"/>
                <a:gridCol w="1645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1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Avatar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+ 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100dp circle primary.container, initials in title.lg/22sp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only; no account, no sign-in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title/20sp Bold name + caption/14sp muted summary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is editable inline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stats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cells, stat/32sp reduced to 24sp, label/12sp caps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All-time, not windowed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label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label/12sp caps, 24dp above each group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Preferences, Coach, 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+ Switch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56dp, title/20sp label over caption/14sp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on change; no save button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+ chevron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56dp; value reads Light, Dark or Follow system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a 3-option dialog — this is the theme switch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controls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Suggestions toggle plus Clear coach history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off hides every Coach entry point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(danger)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and helper use the danger tokens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Type-to-confirm dialog before wiping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nav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selected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3A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5A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DataStore +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Preferences in DataStore, counts from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C70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applies without a restart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502920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02920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fourth nav tab, the theme switch, and every Coach privacy control.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752344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FROM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2752344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001768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TO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5001768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tab; export opens the system file picker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7251192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7251192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SettingsEntity · aggregate counts · CoachMessageDao.clear()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9500616" y="5806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9500616" y="59984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C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toggles pending write · destructive confirm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HabitFlow - Screen Details</dc:title>
  <dc:subject>PptxGenJS Presentation</dc:subject>
  <dc:creator>Shimul Baidya</dc:creator>
  <cp:lastModifiedBy>Shimul Baidya</cp:lastModifiedBy>
  <cp:revision>1</cp:revision>
  <dcterms:created xsi:type="dcterms:W3CDTF">2026-07-29T19:01:32Z</dcterms:created>
  <dcterms:modified xsi:type="dcterms:W3CDTF">2026-07-29T19:01:32Z</dcterms:modified>
</cp:coreProperties>
</file>